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31520" y="658368"/>
            <a:ext cx="6400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42E0C3"/>
                </a:solidFill>
                <a:latin typeface="Aptos"/>
              </a:defRPr>
            </a:pPr>
            <a:r>
              <a:t>DIGITAL TWIN CHALLENGE 2026  |  HAPPIEST HEALTH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7772400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3800" b="1">
                <a:solidFill>
                  <a:srgbClr val="F6F8FF"/>
                </a:solidFill>
                <a:latin typeface="Aptos"/>
              </a:defRPr>
            </a:pPr>
            <a:r>
              <a:t>BipolarTwin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670048"/>
            <a:ext cx="713232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900" b="0">
                <a:solidFill>
                  <a:srgbClr val="B1BED8"/>
                </a:solidFill>
                <a:latin typeface="Aptos"/>
              </a:defRPr>
            </a:pPr>
            <a:r>
              <a:t>Exploring personal baselines and experimental mood forecasting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" y="3703320"/>
            <a:ext cx="6056345" cy="1905628"/>
          </a:xfrm>
          <a:prstGeom prst="roundRect">
            <a:avLst/>
          </a:prstGeom>
          <a:solidFill>
            <a:srgbClr val="17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3913632"/>
            <a:ext cx="4480560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42E0C3"/>
                </a:solidFill>
                <a:latin typeface="Aptos"/>
              </a:defRPr>
            </a:pPr>
            <a:r>
              <a:rPr lang="en-IN" sz="2000" dirty="0"/>
              <a:t>Team Members</a:t>
            </a:r>
            <a:endParaRPr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1024128" y="4233672"/>
            <a:ext cx="4526280" cy="12280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1">
                <a:solidFill>
                  <a:srgbClr val="F6F8FF"/>
                </a:solidFill>
                <a:latin typeface="Aptos"/>
              </a:defRPr>
            </a:pPr>
            <a:r>
              <a:rPr lang="en-IN" dirty="0"/>
              <a:t>Jiya Rai Singhani (Team leader)</a:t>
            </a:r>
          </a:p>
          <a:p>
            <a:pPr>
              <a:defRPr sz="1500" b="1">
                <a:solidFill>
                  <a:srgbClr val="F6F8FF"/>
                </a:solidFill>
                <a:latin typeface="Aptos"/>
              </a:defRPr>
            </a:pPr>
            <a:r>
              <a:rPr lang="en-IN" dirty="0"/>
              <a:t>Nishant Srivastava</a:t>
            </a:r>
          </a:p>
          <a:p>
            <a:pPr>
              <a:defRPr sz="1500" b="1">
                <a:solidFill>
                  <a:srgbClr val="F6F8FF"/>
                </a:solidFill>
                <a:latin typeface="Aptos"/>
              </a:defRPr>
            </a:pPr>
            <a:r>
              <a:rPr lang="en-IN" dirty="0"/>
              <a:t>Radhika Grover</a:t>
            </a:r>
          </a:p>
          <a:p>
            <a:pPr>
              <a:defRPr sz="1500" b="1">
                <a:solidFill>
                  <a:srgbClr val="F6F8FF"/>
                </a:solidFill>
                <a:latin typeface="Aptos"/>
              </a:defRPr>
            </a:pPr>
            <a:endParaRPr lang="en-IN" dirty="0"/>
          </a:p>
          <a:p>
            <a:pPr>
              <a:defRPr sz="1500" b="1">
                <a:solidFill>
                  <a:srgbClr val="F6F8FF"/>
                </a:solidFill>
                <a:latin typeface="Aptos"/>
              </a:defRPr>
            </a:pPr>
            <a:r>
              <a:rPr lang="en-IN" dirty="0"/>
              <a:t>Pranveer Singh Institute of Technology, Kanpur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777240" y="6002140"/>
            <a:ext cx="640080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F6F8FF"/>
                </a:solidFill>
                <a:latin typeface="Aptos"/>
              </a:defRPr>
            </a:pPr>
            <a:r>
              <a:rPr sz="2800" dirty="0"/>
              <a:t>Team </a:t>
            </a:r>
            <a:r>
              <a:rPr sz="2800" dirty="0" err="1"/>
              <a:t>Cyclo</a:t>
            </a:r>
            <a:r>
              <a:rPr lang="en-IN" sz="2800" dirty="0"/>
              <a:t>S</a:t>
            </a:r>
            <a:r>
              <a:rPr sz="2800" dirty="0" err="1"/>
              <a:t>ync</a:t>
            </a:r>
            <a:endParaRPr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B1BED8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42E0C3"/>
                </a:solidFill>
                <a:latin typeface="Aptos"/>
              </a:defRPr>
            </a:pPr>
            <a:r>
              <a:t>01 •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900" b="1">
                <a:solidFill>
                  <a:srgbClr val="F6F8FF"/>
                </a:solidFill>
                <a:latin typeface="Aptos"/>
              </a:defRPr>
            </a:pPr>
            <a:r>
              <a:t>From daily observations to a personal health-state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972800" cy="402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B1BED8"/>
                </a:solidFill>
                <a:latin typeface="Aptos"/>
              </a:defRPr>
            </a:pPr>
            <a:r>
              <a:t>The prototype explores how recorded patterns may be represented over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5257800" cy="4069080"/>
          </a:xfrm>
          <a:prstGeom prst="roundRect">
            <a:avLst/>
          </a:prstGeom>
          <a:solidFill>
            <a:srgbClr val="17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2148840"/>
            <a:ext cx="46634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42E0C3"/>
                </a:solidFill>
                <a:latin typeface="Aptos"/>
              </a:defRPr>
            </a:pPr>
            <a:r>
              <a:t>THE PROBLEM 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624328"/>
            <a:ext cx="461772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200" b="1">
                <a:solidFill>
                  <a:srgbClr val="F6F8FF"/>
                </a:solidFill>
                <a:latin typeface="Aptos"/>
              </a:defRPr>
            </a:pPr>
            <a:r>
              <a:t>Mood and behavior can change over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474720"/>
            <a:ext cx="4526280" cy="11430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0">
                <a:solidFill>
                  <a:srgbClr val="B1BED8"/>
                </a:solidFill>
                <a:latin typeface="Aptos"/>
              </a:defRPr>
            </a:pPr>
            <a:r>
              <a:t>A digital-twin approach can organize historical information and daily observations around an individual's recorded patterns.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874519"/>
            <a:ext cx="5321808" cy="4069080"/>
          </a:xfrm>
          <a:prstGeom prst="roundRect">
            <a:avLst/>
          </a:prstGeom>
          <a:solidFill>
            <a:srgbClr val="17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148840"/>
            <a:ext cx="4572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42E0C3"/>
                </a:solidFill>
                <a:latin typeface="Aptos"/>
              </a:defRPr>
            </a:pPr>
            <a:r>
              <a:t>PROTOTYPE WORKFLOW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670048"/>
            <a:ext cx="438912" cy="384048"/>
          </a:xfrm>
          <a:prstGeom prst="roundRect">
            <a:avLst/>
          </a:prstGeom>
          <a:solidFill>
            <a:srgbClr val="1F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724912"/>
            <a:ext cx="438912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42E0C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2688336"/>
            <a:ext cx="3977639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F6F8FF"/>
                </a:solidFill>
                <a:latin typeface="Aptos"/>
              </a:defRPr>
            </a:pPr>
            <a:r>
              <a:t>Patient profile + historical records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3364991"/>
            <a:ext cx="438912" cy="384048"/>
          </a:xfrm>
          <a:prstGeom prst="roundRect">
            <a:avLst/>
          </a:prstGeom>
          <a:solidFill>
            <a:srgbClr val="1F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3419856"/>
            <a:ext cx="438912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42E0C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3383279"/>
            <a:ext cx="3977639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F6F8FF"/>
                </a:solidFill>
                <a:latin typeface="Aptos"/>
              </a:defRPr>
            </a:pPr>
            <a:r>
              <a:t>Daily observations + data-quality checks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4059935"/>
            <a:ext cx="438912" cy="384048"/>
          </a:xfrm>
          <a:prstGeom prst="roundRect">
            <a:avLst/>
          </a:prstGeom>
          <a:solidFill>
            <a:srgbClr val="1F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4114799"/>
            <a:ext cx="438912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42E0C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2" y="4078223"/>
            <a:ext cx="3977639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F6F8FF"/>
                </a:solidFill>
                <a:latin typeface="Aptos"/>
              </a:defRPr>
            </a:pPr>
            <a:r>
              <a:t>Rolling personal baseline + deviations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4754880"/>
            <a:ext cx="438912" cy="384048"/>
          </a:xfrm>
          <a:prstGeom prst="roundRect">
            <a:avLst/>
          </a:prstGeom>
          <a:solidFill>
            <a:srgbClr val="1F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4809744"/>
            <a:ext cx="438912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42E0C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4773168"/>
            <a:ext cx="3977639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F6F8FF"/>
                </a:solidFill>
                <a:latin typeface="Aptos"/>
              </a:defRPr>
            </a:pPr>
            <a:r>
              <a:t>Current mood classification + experimental forecast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800" b="0">
                <a:solidFill>
                  <a:srgbClr val="B1BED8"/>
                </a:solidFill>
                <a:latin typeface="Aptos"/>
              </a:defRPr>
            </a:pPr>
            <a:r>
              <a:t>BIPOLARTWIN AI  •  DIGITAL TWIN CHALLENGE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B1BED8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42E0C3"/>
                </a:solidFill>
                <a:latin typeface="Aptos"/>
              </a:defRPr>
            </a:pPr>
            <a:r>
              <a:t>02 •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900" b="1">
                <a:solidFill>
                  <a:srgbClr val="F6F8FF"/>
                </a:solidFill>
                <a:latin typeface="Aptos"/>
              </a:defRPr>
            </a:pPr>
            <a:r>
              <a:t>A modular research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972800" cy="402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B1BED8"/>
                </a:solidFill>
                <a:latin typeface="Aptos"/>
              </a:defRPr>
            </a:pPr>
            <a:r>
              <a:t>The current implementation separates data processing, model outputs, API delivery, and the dashboard.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331720"/>
            <a:ext cx="1737360" cy="2148840"/>
          </a:xfrm>
          <a:prstGeom prst="roundRect">
            <a:avLst/>
          </a:prstGeom>
          <a:solidFill>
            <a:srgbClr val="17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2578608"/>
            <a:ext cx="1463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1">
                <a:solidFill>
                  <a:srgbClr val="42E0C3"/>
                </a:solidFill>
                <a:latin typeface="Aptos"/>
              </a:defRPr>
            </a:pPr>
            <a:r>
              <a:t>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1499616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0">
                <a:solidFill>
                  <a:srgbClr val="F6F8FF"/>
                </a:solidFill>
                <a:latin typeface="Aptos"/>
              </a:defRPr>
            </a:pPr>
            <a:r>
              <a:t>Patient profile</a:t>
            </a:r>
            <a:br/>
            <a:r>
              <a:t>Historical records</a:t>
            </a:r>
            <a:br/>
            <a:r>
              <a:t>Daily observations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44368" y="2331720"/>
            <a:ext cx="1737360" cy="2148840"/>
          </a:xfrm>
          <a:prstGeom prst="roundRect">
            <a:avLst/>
          </a:prstGeom>
          <a:solidFill>
            <a:srgbClr val="1F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81528" y="2578608"/>
            <a:ext cx="1463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1">
                <a:solidFill>
                  <a:srgbClr val="42E0C3"/>
                </a:solidFill>
                <a:latin typeface="Aptos"/>
              </a:defRPr>
            </a:pPr>
            <a:r>
              <a:t>DIGITAL TWIN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3063240"/>
            <a:ext cx="1499616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0">
                <a:solidFill>
                  <a:srgbClr val="F6F8FF"/>
                </a:solidFill>
                <a:latin typeface="Aptos"/>
              </a:defRPr>
            </a:pPr>
            <a:r>
              <a:t>Personal baselines</a:t>
            </a:r>
            <a:br/>
            <a:r>
              <a:t>Baseline deviations</a:t>
            </a:r>
            <a:br/>
            <a:r>
              <a:t>Missing-data flags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30368" y="2331720"/>
            <a:ext cx="1737360" cy="2148840"/>
          </a:xfrm>
          <a:prstGeom prst="roundRect">
            <a:avLst/>
          </a:prstGeom>
          <a:solidFill>
            <a:srgbClr val="17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67528" y="2578608"/>
            <a:ext cx="1463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1">
                <a:solidFill>
                  <a:srgbClr val="42E0C3"/>
                </a:solidFill>
                <a:latin typeface="Aptos"/>
              </a:defRPr>
            </a:pPr>
            <a:r>
              <a:t>ML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3063240"/>
            <a:ext cx="1499616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0">
                <a:solidFill>
                  <a:srgbClr val="F6F8FF"/>
                </a:solidFill>
                <a:latin typeface="Aptos"/>
              </a:defRPr>
            </a:pPr>
            <a:r>
              <a:t>Logistic Regression</a:t>
            </a:r>
            <a:br/>
            <a:r>
              <a:t>Current mood class</a:t>
            </a:r>
            <a:br/>
            <a:r>
              <a:t>Experimental forecast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16368" y="2331720"/>
            <a:ext cx="1737360" cy="2148840"/>
          </a:xfrm>
          <a:prstGeom prst="roundRect">
            <a:avLst/>
          </a:prstGeom>
          <a:solidFill>
            <a:srgbClr val="1F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53528" y="2578608"/>
            <a:ext cx="1463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1">
                <a:solidFill>
                  <a:srgbClr val="42E0C3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063240"/>
            <a:ext cx="1499616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0">
                <a:solidFill>
                  <a:srgbClr val="F6F8FF"/>
                </a:solidFill>
                <a:latin typeface="Aptos"/>
              </a:defRPr>
            </a:pPr>
            <a:r>
              <a:t>FastAPI</a:t>
            </a:r>
            <a:br/>
            <a:r>
              <a:t>Patient endpoint</a:t>
            </a:r>
            <a:br/>
            <a:r>
              <a:t>Model outputs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02368" y="2331720"/>
            <a:ext cx="1737360" cy="2148840"/>
          </a:xfrm>
          <a:prstGeom prst="roundRect">
            <a:avLst/>
          </a:prstGeom>
          <a:solidFill>
            <a:srgbClr val="17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39528" y="2578608"/>
            <a:ext cx="1463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1">
                <a:solidFill>
                  <a:srgbClr val="42E0C3"/>
                </a:solidFill>
                <a:latin typeface="Aptos"/>
              </a:defRPr>
            </a:pPr>
            <a:r>
              <a:t>INTERFACE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3063240"/>
            <a:ext cx="1499616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200" b="0">
                <a:solidFill>
                  <a:srgbClr val="F6F8FF"/>
                </a:solidFill>
                <a:latin typeface="Aptos"/>
              </a:defRPr>
            </a:pPr>
            <a:r>
              <a:t>React + TypeScript</a:t>
            </a:r>
            <a:br/>
            <a:r>
              <a:t>Charts and overview</a:t>
            </a:r>
            <a:br/>
            <a:r>
              <a:t>Research limitations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50592" y="3154680"/>
            <a:ext cx="4114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2200" b="1">
                <a:solidFill>
                  <a:srgbClr val="42E0C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3154680"/>
            <a:ext cx="4114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2200" b="1">
                <a:solidFill>
                  <a:srgbClr val="42E0C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3154680"/>
            <a:ext cx="4114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2200" b="1">
                <a:solidFill>
                  <a:srgbClr val="42E0C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8592" y="3154680"/>
            <a:ext cx="4114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2200" b="1">
                <a:solidFill>
                  <a:srgbClr val="42E0C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83480"/>
            <a:ext cx="10835640" cy="777240"/>
          </a:xfrm>
          <a:prstGeom prst="roundRect">
            <a:avLst/>
          </a:prstGeom>
          <a:solidFill>
            <a:srgbClr val="17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" y="5202936"/>
            <a:ext cx="10287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300" b="1">
                <a:solidFill>
                  <a:srgbClr val="F6F8FF"/>
                </a:solidFill>
                <a:latin typeface="Aptos"/>
              </a:defRPr>
            </a:pPr>
            <a:r>
              <a:t>Tech stack: Python • pandas • NumPy • scikit-learn • FastAPI • Uvicorn • React • TypeScript • Vite • Recharts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800" b="0">
                <a:solidFill>
                  <a:srgbClr val="B1BED8"/>
                </a:solidFill>
                <a:latin typeface="Aptos"/>
              </a:defRPr>
            </a:pPr>
            <a:r>
              <a:t>BIPOLARTWIN AI  •  DIGITAL TWIN CHALLENGE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B1BED8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42E0C3"/>
                </a:solidFill>
                <a:latin typeface="Aptos"/>
              </a:defRPr>
            </a:pPr>
            <a:r>
              <a:t>03 •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900" b="1">
                <a:solidFill>
                  <a:srgbClr val="F6F8FF"/>
                </a:solidFill>
                <a:latin typeface="Aptos"/>
              </a:defRPr>
            </a:pPr>
            <a:r>
              <a:t>What the current dataset contains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972800" cy="2739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B1BED8"/>
                </a:solidFill>
                <a:latin typeface="Aptos"/>
              </a:defRPr>
            </a:pPr>
            <a:r>
              <a:rPr dirty="0"/>
              <a:t>The </a:t>
            </a:r>
            <a:r>
              <a:rPr lang="en-IN" dirty="0"/>
              <a:t>project</a:t>
            </a:r>
            <a:r>
              <a:rPr dirty="0"/>
              <a:t> describes a local dataset with 730 daily observations for one patient.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2542032" cy="1170432"/>
          </a:xfrm>
          <a:prstGeom prst="roundRect">
            <a:avLst/>
          </a:prstGeom>
          <a:solidFill>
            <a:srgbClr val="17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2084831"/>
            <a:ext cx="2249424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2600" b="1">
                <a:solidFill>
                  <a:srgbClr val="42E0C3"/>
                </a:solidFill>
                <a:latin typeface="Aptos"/>
              </a:defRPr>
            </a:pPr>
            <a:r>
              <a:t>730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578608"/>
            <a:ext cx="226771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0">
                <a:solidFill>
                  <a:srgbClr val="B1BED8"/>
                </a:solidFill>
                <a:latin typeface="Aptos"/>
              </a:defRPr>
            </a:pPr>
            <a:r>
              <a:t>Daily observations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74519"/>
            <a:ext cx="2542032" cy="1170432"/>
          </a:xfrm>
          <a:prstGeom prst="roundRect">
            <a:avLst/>
          </a:prstGeom>
          <a:solidFill>
            <a:srgbClr val="17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75304" y="2084831"/>
            <a:ext cx="2249424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2600" b="1">
                <a:solidFill>
                  <a:srgbClr val="FFCC7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578608"/>
            <a:ext cx="226771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0">
                <a:solidFill>
                  <a:srgbClr val="B1BED8"/>
                </a:solidFill>
                <a:latin typeface="Aptos"/>
              </a:defRPr>
            </a:pPr>
            <a:r>
              <a:t>Patient represented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874519"/>
            <a:ext cx="2542032" cy="1170432"/>
          </a:xfrm>
          <a:prstGeom prst="roundRect">
            <a:avLst/>
          </a:prstGeom>
          <a:solidFill>
            <a:srgbClr val="17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45936" y="2084831"/>
            <a:ext cx="2249424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2600" b="1">
                <a:solidFill>
                  <a:srgbClr val="7AA9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2578608"/>
            <a:ext cx="226771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0">
                <a:solidFill>
                  <a:srgbClr val="B1BED8"/>
                </a:solidFill>
                <a:latin typeface="Aptos"/>
              </a:defRPr>
            </a:pPr>
            <a:r>
              <a:t>Recorded mood states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0264" y="1874519"/>
            <a:ext cx="2542032" cy="1170432"/>
          </a:xfrm>
          <a:prstGeom prst="roundRect">
            <a:avLst/>
          </a:prstGeom>
          <a:solidFill>
            <a:srgbClr val="17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16568" y="2084831"/>
            <a:ext cx="2249424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2000" b="1">
                <a:solidFill>
                  <a:srgbClr val="42E0C3"/>
                </a:solidFill>
                <a:latin typeface="Aptos"/>
              </a:defRPr>
            </a:pPr>
            <a:r>
              <a:t>Sep 2024 – Aug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8760" y="2697197"/>
            <a:ext cx="226771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100" b="0">
                <a:solidFill>
                  <a:srgbClr val="B1BED8"/>
                </a:solidFill>
                <a:latin typeface="Aptos"/>
              </a:defRPr>
            </a:pPr>
            <a:r>
              <a:rPr dirty="0"/>
              <a:t>Date range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401568"/>
            <a:ext cx="5029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42E0C3"/>
                </a:solidFill>
                <a:latin typeface="Aptos"/>
              </a:defRPr>
            </a:pPr>
            <a:r>
              <a:t>RECORDED MOOD-STATE DISTRIBUTION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886200"/>
            <a:ext cx="12344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Stable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57400" y="3904487"/>
            <a:ext cx="4709160" cy="256032"/>
          </a:xfrm>
          <a:prstGeom prst="rect">
            <a:avLst/>
          </a:prstGeom>
          <a:solidFill>
            <a:srgbClr val="1F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057400" y="3904487"/>
            <a:ext cx="4709160" cy="256032"/>
          </a:xfrm>
          <a:prstGeom prst="rect">
            <a:avLst/>
          </a:prstGeom>
          <a:solidFill>
            <a:srgbClr val="42E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03720" y="3886200"/>
            <a:ext cx="914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521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498848"/>
            <a:ext cx="12344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Depression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57400" y="4517136"/>
            <a:ext cx="4709160" cy="256032"/>
          </a:xfrm>
          <a:prstGeom prst="rect">
            <a:avLst/>
          </a:prstGeom>
          <a:solidFill>
            <a:srgbClr val="1F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057400" y="4517136"/>
            <a:ext cx="1382920" cy="256032"/>
          </a:xfrm>
          <a:prstGeom prst="rect">
            <a:avLst/>
          </a:prstGeom>
          <a:solidFill>
            <a:srgbClr val="FFCC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03720" y="4498848"/>
            <a:ext cx="914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153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111496"/>
            <a:ext cx="12344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Mania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57400" y="5129783"/>
            <a:ext cx="4709160" cy="256032"/>
          </a:xfrm>
          <a:prstGeom prst="rect">
            <a:avLst/>
          </a:prstGeom>
          <a:solidFill>
            <a:srgbClr val="1F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057400" y="5129783"/>
            <a:ext cx="506166" cy="256032"/>
          </a:xfrm>
          <a:prstGeom prst="rect">
            <a:avLst/>
          </a:prstGeom>
          <a:solidFill>
            <a:srgbClr val="FF8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03720" y="5111496"/>
            <a:ext cx="914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F6F8FF"/>
                </a:solidFill>
                <a:latin typeface="Aptos"/>
              </a:defRPr>
            </a:pPr>
            <a:r>
              <a:t>56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510528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800" b="0">
                <a:solidFill>
                  <a:srgbClr val="B1BED8"/>
                </a:solidFill>
                <a:latin typeface="Aptos"/>
              </a:defRPr>
            </a:pPr>
            <a:r>
              <a:t>BIPOLARTWIN AI  •  DIGITAL TWIN CHALLENGE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B1BED8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42E0C3"/>
                </a:solidFill>
                <a:latin typeface="Aptos"/>
              </a:defRPr>
            </a:pPr>
            <a:r>
              <a:t>04 •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900" b="1">
                <a:solidFill>
                  <a:srgbClr val="F6F8FF"/>
                </a:solidFill>
                <a:latin typeface="Aptos"/>
              </a:defRPr>
            </a:pPr>
            <a:r>
              <a:t>Seven-day mood forecasting: model vs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972800" cy="2739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B1BED8"/>
                </a:solidFill>
                <a:latin typeface="Aptos"/>
              </a:defRPr>
            </a:pPr>
            <a:r>
              <a:rPr dirty="0"/>
              <a:t>Chronological test split • Three recorded mood classes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6766560" cy="4160520"/>
          </a:xfrm>
          <a:prstGeom prst="roundRect">
            <a:avLst/>
          </a:prstGeom>
          <a:solidFill>
            <a:srgbClr val="17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6217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42E0C3"/>
                </a:solidFill>
                <a:latin typeface="Aptos"/>
              </a:defRPr>
            </a:pPr>
            <a:r>
              <a:t>METRIC COMPARISON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651760"/>
            <a:ext cx="6217920" cy="438912"/>
          </a:xfrm>
          <a:prstGeom prst="rect">
            <a:avLst/>
          </a:prstGeom>
          <a:solidFill>
            <a:srgbClr val="1F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0704" y="2752344"/>
            <a:ext cx="26517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B1BED8"/>
                </a:solidFill>
                <a:latin typeface="Aptos"/>
              </a:defRPr>
            </a:pPr>
            <a:r>
              <a:t>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2752344"/>
            <a:ext cx="1417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B1BED8"/>
                </a:solidFill>
                <a:latin typeface="Aptos"/>
              </a:defRPr>
            </a:pPr>
            <a:r>
              <a:t>LOGISTIC REG.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2752344"/>
            <a:ext cx="1417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000" b="1">
                <a:solidFill>
                  <a:srgbClr val="B1BED8"/>
                </a:solidFill>
                <a:latin typeface="Aptos"/>
              </a:defRPr>
            </a:pPr>
            <a:r>
              <a:t>PERSISTENCE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200400"/>
            <a:ext cx="6217920" cy="420624"/>
          </a:xfrm>
          <a:prstGeom prst="rect">
            <a:avLst/>
          </a:prstGeom>
          <a:solidFill>
            <a:srgbClr val="13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0704" y="3264408"/>
            <a:ext cx="2651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F6F8FF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3264408"/>
            <a:ext cx="1417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200" b="1">
                <a:solidFill>
                  <a:srgbClr val="F6F8FF"/>
                </a:solidFill>
                <a:latin typeface="Aptos"/>
              </a:defRPr>
            </a:pPr>
            <a:r>
              <a:t>73.79%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3264408"/>
            <a:ext cx="1417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200" b="1">
                <a:solidFill>
                  <a:srgbClr val="FFCC70"/>
                </a:solidFill>
                <a:latin typeface="Aptos"/>
              </a:defRPr>
            </a:pPr>
            <a:r>
              <a:t>75.86%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" y="3749039"/>
            <a:ext cx="2651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F6F8FF"/>
                </a:solidFill>
                <a:latin typeface="Aptos"/>
              </a:defRPr>
            </a:pPr>
            <a:r>
              <a:t>Macro F1-score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3749039"/>
            <a:ext cx="1417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200" b="1">
                <a:solidFill>
                  <a:srgbClr val="42E0C3"/>
                </a:solidFill>
                <a:latin typeface="Aptos"/>
              </a:defRPr>
            </a:pPr>
            <a:r>
              <a:t>0.67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3749039"/>
            <a:ext cx="1417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200" b="1">
                <a:solidFill>
                  <a:srgbClr val="F6F8FF"/>
                </a:solidFill>
                <a:latin typeface="Aptos"/>
              </a:defRPr>
            </a:pPr>
            <a:r>
              <a:t>0.66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169664"/>
            <a:ext cx="6217920" cy="420624"/>
          </a:xfrm>
          <a:prstGeom prst="rect">
            <a:avLst/>
          </a:prstGeom>
          <a:solidFill>
            <a:srgbClr val="13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0704" y="4233672"/>
            <a:ext cx="2651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F6F8FF"/>
                </a:solidFill>
                <a:latin typeface="Aptos"/>
              </a:defRPr>
            </a:pPr>
            <a:r>
              <a:t>Stable F1-score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4233672"/>
            <a:ext cx="1417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200" b="1">
                <a:solidFill>
                  <a:srgbClr val="F6F8FF"/>
                </a:solidFill>
                <a:latin typeface="Aptos"/>
              </a:defRPr>
            </a:pPr>
            <a:r>
              <a:t>0.78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4233672"/>
            <a:ext cx="1417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200" b="1">
                <a:solidFill>
                  <a:srgbClr val="F6F8FF"/>
                </a:solidFill>
                <a:latin typeface="Aptos"/>
              </a:defRPr>
            </a:pPr>
            <a:r>
              <a:t>0.80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" y="4718304"/>
            <a:ext cx="2651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F6F8FF"/>
                </a:solidFill>
                <a:latin typeface="Aptos"/>
              </a:defRPr>
            </a:pPr>
            <a:r>
              <a:t>Depression F1-score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4718304"/>
            <a:ext cx="1417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200" b="1">
                <a:solidFill>
                  <a:srgbClr val="F6F8FF"/>
                </a:solidFill>
                <a:latin typeface="Aptos"/>
              </a:defRPr>
            </a:pPr>
            <a:r>
              <a:t>0.74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4718304"/>
            <a:ext cx="1417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200" b="1">
                <a:solidFill>
                  <a:srgbClr val="F6F8FF"/>
                </a:solidFill>
                <a:latin typeface="Aptos"/>
              </a:defRPr>
            </a:pPr>
            <a:r>
              <a:t>0.77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5138928"/>
            <a:ext cx="6217920" cy="420624"/>
          </a:xfrm>
          <a:prstGeom prst="rect">
            <a:avLst/>
          </a:prstGeom>
          <a:solidFill>
            <a:srgbClr val="13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60704" y="5202936"/>
            <a:ext cx="26517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F6F8FF"/>
                </a:solidFill>
                <a:latin typeface="Aptos"/>
              </a:defRPr>
            </a:pPr>
            <a:r>
              <a:t>Mania F1-score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5202936"/>
            <a:ext cx="1417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200" b="1">
                <a:solidFill>
                  <a:srgbClr val="F6F8FF"/>
                </a:solidFill>
                <a:latin typeface="Aptos"/>
              </a:defRPr>
            </a:pPr>
            <a:r>
              <a:t>0.50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202936"/>
            <a:ext cx="1417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200" b="1">
                <a:solidFill>
                  <a:srgbClr val="F6F8FF"/>
                </a:solidFill>
                <a:latin typeface="Aptos"/>
              </a:defRPr>
            </a:pPr>
            <a:r>
              <a:t>0.42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54112" y="1874519"/>
            <a:ext cx="3767328" cy="1874519"/>
          </a:xfrm>
          <a:prstGeom prst="roundRect">
            <a:avLst/>
          </a:prstGeom>
          <a:solidFill>
            <a:srgbClr val="17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28431" y="2121408"/>
            <a:ext cx="3200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42E0C3"/>
                </a:solidFill>
                <a:latin typeface="Aptos"/>
              </a:defRPr>
            </a:pPr>
            <a:r>
              <a:t>KEY RESULT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8431" y="2514600"/>
            <a:ext cx="3182112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F6F8FF"/>
                </a:solidFill>
                <a:latin typeface="Aptos"/>
              </a:defRPr>
            </a:pPr>
            <a:r>
              <a:t>The persistence baseline had higher overall accuracy; Logistic Regression had a slightly higher macro F1-score.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54112" y="3977639"/>
            <a:ext cx="3767328" cy="2057400"/>
          </a:xfrm>
          <a:prstGeom prst="roundRect">
            <a:avLst/>
          </a:prstGeom>
          <a:solidFill>
            <a:srgbClr val="17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28431" y="4224528"/>
            <a:ext cx="3200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FF838B"/>
                </a:solidFill>
                <a:latin typeface="Aptos"/>
              </a:defRPr>
            </a:pPr>
            <a:r>
              <a:t>INTERPRET WITH CAUTION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28431" y="4608576"/>
            <a:ext cx="3154680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F6F8FF"/>
                </a:solidFill>
                <a:latin typeface="Aptos"/>
              </a:defRPr>
            </a:pPr>
            <a:r>
              <a:rPr dirty="0"/>
              <a:t>Only 12 mania observations were in the test set. These results do not establish superiority or generalization to other patients.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510528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800" b="0">
                <a:solidFill>
                  <a:srgbClr val="B1BED8"/>
                </a:solidFill>
                <a:latin typeface="Aptos"/>
              </a:defRPr>
            </a:pPr>
            <a:r>
              <a:t>BIPOLARTWIN AI  •  DIGITAL TWIN CHALLENGE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B1BED8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42E0C3"/>
                </a:solidFill>
                <a:latin typeface="Aptos"/>
              </a:defRPr>
            </a:pPr>
            <a:r>
              <a:t>05 • LIMITATIONS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900" b="1">
                <a:solidFill>
                  <a:srgbClr val="F6F8FF"/>
                </a:solidFill>
                <a:latin typeface="Aptos"/>
              </a:defRPr>
            </a:pPr>
            <a:r>
              <a:t>What the prototype still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43584"/>
            <a:ext cx="10972800" cy="2739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B1BED8"/>
                </a:solidFill>
                <a:latin typeface="Aptos"/>
              </a:defRPr>
            </a:pPr>
            <a:r>
              <a:rPr dirty="0"/>
              <a:t>The  frames </a:t>
            </a:r>
            <a:r>
              <a:rPr dirty="0" err="1"/>
              <a:t>BipolarTwin</a:t>
            </a:r>
            <a:r>
              <a:rPr dirty="0"/>
              <a:t> AI as an educational and research proof of concept.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5230368" cy="4160520"/>
          </a:xfrm>
          <a:prstGeom prst="roundRect">
            <a:avLst/>
          </a:prstGeom>
          <a:solidFill>
            <a:srgbClr val="17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2148840"/>
            <a:ext cx="4572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FF838B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24328"/>
            <a:ext cx="45720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F6F8FF"/>
                </a:solidFill>
                <a:latin typeface="Aptos"/>
              </a:defRPr>
            </a:pPr>
            <a:r>
              <a:t>•  Single-patient dataset; provenance unverified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108960"/>
            <a:ext cx="45720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F6F8FF"/>
                </a:solidFill>
                <a:latin typeface="Aptos"/>
              </a:defRPr>
            </a:pPr>
            <a:r>
              <a:t>•  Binary relapse model has weak discrimination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593592"/>
            <a:ext cx="45720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F6F8FF"/>
                </a:solidFill>
                <a:latin typeface="Aptos"/>
              </a:defRPr>
            </a:pPr>
            <a:r>
              <a:t>•  Forecasting accuracy does not beat persistence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078224"/>
            <a:ext cx="45720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F6F8FF"/>
                </a:solidFill>
                <a:latin typeface="Aptos"/>
              </a:defRPr>
            </a:pPr>
            <a:r>
              <a:t>•  Small mania test sample; generalization unestablished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562856"/>
            <a:ext cx="45720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F6F8FF"/>
                </a:solidFill>
                <a:latin typeface="Aptos"/>
              </a:defRPr>
            </a:pPr>
            <a:r>
              <a:t>•  New observations are not persisted; no real wearable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047488"/>
            <a:ext cx="45720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F6F8FF"/>
                </a:solidFill>
                <a:latin typeface="Aptos"/>
              </a:defRPr>
            </a:pPr>
            <a:r>
              <a:t>•  Three-class forecast experiment is not exposed through the current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874519"/>
            <a:ext cx="5321808" cy="4160520"/>
          </a:xfrm>
          <a:prstGeom prst="roundRect">
            <a:avLst/>
          </a:prstGeom>
          <a:solidFill>
            <a:srgbClr val="17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2148840"/>
            <a:ext cx="4572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42E0C3"/>
                </a:solidFill>
                <a:latin typeface="Aptos"/>
              </a:defRPr>
            </a:pPr>
            <a:r>
              <a:t>PROPOSED FUTURE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624328"/>
            <a:ext cx="45720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F6F8FF"/>
                </a:solidFill>
                <a:latin typeface="Aptos"/>
              </a:defRPr>
            </a:pPr>
            <a:r>
              <a:t>•  Verify dataset source, permissions, and target definitions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3108960"/>
            <a:ext cx="45720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F6F8FF"/>
                </a:solidFill>
                <a:latin typeface="Aptos"/>
              </a:defRPr>
            </a:pPr>
            <a:r>
              <a:t>•  Evaluate on independent participants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3593592"/>
            <a:ext cx="45720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F6F8FF"/>
                </a:solidFill>
                <a:latin typeface="Aptos"/>
              </a:defRPr>
            </a:pPr>
            <a:r>
              <a:t>•  Improve temporal evaluation and forecasting targets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4078224"/>
            <a:ext cx="45720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F6F8FF"/>
                </a:solidFill>
                <a:latin typeface="Aptos"/>
              </a:defRPr>
            </a:pPr>
            <a:r>
              <a:t>•  Integrate the selected forecast into the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4562856"/>
            <a:ext cx="45720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F6F8FF"/>
                </a:solidFill>
                <a:latin typeface="Aptos"/>
              </a:defRPr>
            </a:pPr>
            <a:r>
              <a:t>•  Add longitudinal trend views and persistent 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5047488"/>
            <a:ext cx="45720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F6F8FF"/>
                </a:solidFill>
                <a:latin typeface="Aptos"/>
              </a:defRPr>
            </a:pPr>
            <a:r>
              <a:t>•  Investigate wearable integration and clinical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800" b="0">
                <a:solidFill>
                  <a:srgbClr val="B1BED8"/>
                </a:solidFill>
                <a:latin typeface="Aptos"/>
              </a:defRPr>
            </a:pPr>
            <a:r>
              <a:t>BIPOLARTWIN AI  •  DIGITAL TWIN CHALLENGE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B1BED8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77240" y="749808"/>
            <a:ext cx="6400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42E0C3"/>
                </a:solidFill>
                <a:latin typeface="Aptos"/>
              </a:defRPr>
            </a:pPr>
            <a:r>
              <a:t>BIPOLARTWIN AI  |  TEAM CYCLOSYNC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731520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4000" b="1">
                <a:solidFill>
                  <a:srgbClr val="F6F8FF"/>
                </a:solidFill>
                <a:latin typeface="Aptos"/>
              </a:defRPr>
            </a:pPr>
            <a:r>
              <a:rPr dirty="0"/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658368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800" b="0">
                <a:solidFill>
                  <a:srgbClr val="B1BED8"/>
                </a:solidFill>
                <a:latin typeface="Aptos"/>
              </a:defRPr>
            </a:pPr>
            <a:r>
              <a:rPr dirty="0"/>
              <a:t>Exploring personal baselines and longitudinal mood patterns through a digital-twin research prototype.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6520" y="6548989"/>
            <a:ext cx="562356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1">
                <a:solidFill>
                  <a:srgbClr val="FFCC70"/>
                </a:solidFill>
                <a:latin typeface="Aptos"/>
              </a:defRPr>
            </a:pPr>
            <a:r>
              <a:rPr sz="1000" dirty="0"/>
              <a:t>Research prototype • Not clinically validated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8229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B1BED8"/>
                </a:solidFill>
                <a:latin typeface="Aptos"/>
              </a:defRPr>
            </a:pPr>
            <a:r>
              <a:t>Digital Twin Challenge 2026 — Happiest 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" y="6556908"/>
            <a:ext cx="7315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800" b="0">
                <a:solidFill>
                  <a:srgbClr val="B1BED8"/>
                </a:solidFill>
                <a:latin typeface="Aptos"/>
              </a:defRPr>
            </a:pPr>
            <a:r>
              <a:t>BIPOLARTWIN AI  •  DIGITAL TWIN CHALLENGE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1">
                <a:solidFill>
                  <a:srgbClr val="B1BED8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8554D-7573-F574-3B21-3E9F8571EB8E}"/>
              </a:ext>
            </a:extLst>
          </p:cNvPr>
          <p:cNvSpPr txBox="1"/>
          <p:nvPr/>
        </p:nvSpPr>
        <p:spPr>
          <a:xfrm>
            <a:off x="723899" y="3728835"/>
            <a:ext cx="1072966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References</a:t>
            </a:r>
            <a:r>
              <a:rPr lang="en-IN" dirty="0">
                <a:solidFill>
                  <a:schemeClr val="bg1"/>
                </a:solidFill>
                <a:latin typeface="Aptos" panose="020B0004020202020204" pitchFamily="34" charset="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Grande I, Berk M, </a:t>
            </a:r>
            <a:r>
              <a:rPr lang="en-IN" dirty="0" err="1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Birmaher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 B, Vieta E. Bipolar disorder. The Lancet. 2016 Apr 9;387(10027):1561-72.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Munro G, </a:t>
            </a:r>
            <a:r>
              <a:rPr lang="en-IN" sz="1600" dirty="0" err="1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Faize</a:t>
            </a:r>
            <a:r>
              <a:rPr lang="en-IN" sz="16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 AI. Smartphone-based bioelectric coherence index for mental health diagnostics: a digital twin study. </a:t>
            </a:r>
            <a:r>
              <a:rPr lang="en-IN" sz="1600" dirty="0" err="1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medRxiv</a:t>
            </a:r>
            <a:r>
              <a:rPr lang="en-IN" sz="16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. 2025 Jul 11:2025-07.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err="1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Badajena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 JC. Bipolar EEG Dataset for </a:t>
            </a:r>
            <a:r>
              <a:rPr lang="en-IN" dirty="0" err="1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Brain&amp;ndash;Computer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 Interfaces [Internet]. Harvard Dataverse; 2026. Available from: https://dataverse.harvard.edu/citation?persistentId=doi:10.7910/DVN/KDH3WA</a:t>
            </a:r>
          </a:p>
          <a:p>
            <a:br>
              <a:rPr lang="en-IN" sz="1600" dirty="0">
                <a:latin typeface="Aptos" panose="020B0004020202020204" pitchFamily="34" charset="0"/>
              </a:rPr>
            </a:br>
            <a:endParaRPr lang="en-IN" sz="1600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656</Words>
  <Application>Microsoft Office PowerPoint</Application>
  <PresentationFormat>Widescreen</PresentationFormat>
  <Paragraphs>127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Jiya Rai Singhani</dc:creator>
  <cp:keywords/>
  <dc:description>generated using python-pptx</dc:description>
  <cp:lastModifiedBy>Jiya Rai Singhani</cp:lastModifiedBy>
  <cp:revision>3</cp:revision>
  <dcterms:created xsi:type="dcterms:W3CDTF">2013-01-27T09:14:16Z</dcterms:created>
  <dcterms:modified xsi:type="dcterms:W3CDTF">2026-10-23T14:01:09Z</dcterms:modified>
  <cp:category/>
</cp:coreProperties>
</file>